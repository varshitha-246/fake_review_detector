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7" r:id="rId24"/>
    <p:sldId id="278" r:id="rId25"/>
    <p:sldId id="279" r:id="rId26"/>
    <p:sldId id="280" r:id="rId27"/>
  </p:sldIdLst>
  <p:sldSz cx="9144000" cy="5143500"/>
  <p:notesSz cx="6858000" cy="9144000"/>
  <p:embeddedFontLst>
    <p:embeddedFont>
      <p:font typeface="Nunito"/>
      <p:regular r:id="rId31"/>
    </p:embeddedFont>
    <p:embeddedFont>
      <p:font typeface="Calibri" panose="020F0502020204030204"/>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78"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7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g3acff814de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acff814de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g3acff814de9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cff814de9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g3acff814de9_0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cff814de9_0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g3acff814de9_0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acff814de9_0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g3acff814de9_0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acff814de9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g3acff814de9_0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acff814de9_0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g3acff814de9_0_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acff814de9_0_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g3acff814de9_0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acff814de9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g3acff814de9_0_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acff814de9_0_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 name="Shape 183"/>
        <p:cNvGrpSpPr/>
        <p:nvPr/>
      </p:nvGrpSpPr>
      <p:grpSpPr>
        <a:xfrm>
          <a:off x="0" y="0"/>
          <a:ext cx="0" cy="0"/>
          <a:chOff x="0" y="0"/>
          <a:chExt cx="0" cy="0"/>
        </a:xfrm>
      </p:grpSpPr>
      <p:sp>
        <p:nvSpPr>
          <p:cNvPr id="184" name="Google Shape;184;g3acff814de9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acff814de9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 name="Shape 189"/>
        <p:cNvGrpSpPr/>
        <p:nvPr/>
      </p:nvGrpSpPr>
      <p:grpSpPr>
        <a:xfrm>
          <a:off x="0" y="0"/>
          <a:ext cx="0" cy="0"/>
          <a:chOff x="0" y="0"/>
          <a:chExt cx="0" cy="0"/>
        </a:xfrm>
      </p:grpSpPr>
      <p:sp>
        <p:nvSpPr>
          <p:cNvPr id="190" name="Google Shape;190;g3acff814de9_0_5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acff814de9_0_5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g3acff814de9_0_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acff814de9_0_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g3acff814de9_0_6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acff814de9_0_6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7" name="Shape 207"/>
        <p:cNvGrpSpPr/>
        <p:nvPr/>
      </p:nvGrpSpPr>
      <p:grpSpPr>
        <a:xfrm>
          <a:off x="0" y="0"/>
          <a:ext cx="0" cy="0"/>
          <a:chOff x="0" y="0"/>
          <a:chExt cx="0" cy="0"/>
        </a:xfrm>
      </p:grpSpPr>
      <p:sp>
        <p:nvSpPr>
          <p:cNvPr id="208" name="Google Shape;208;g3acff814de9_0_6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acff814de9_0_6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g3acff814de9_0_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acff814de9_0_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g3acff814de9_0_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acff814de9_0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g3acff814de9_0_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acff814de9_0_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1" name="Shape 231"/>
        <p:cNvGrpSpPr/>
        <p:nvPr/>
      </p:nvGrpSpPr>
      <p:grpSpPr>
        <a:xfrm>
          <a:off x="0" y="0"/>
          <a:ext cx="0" cy="0"/>
          <a:chOff x="0" y="0"/>
          <a:chExt cx="0" cy="0"/>
        </a:xfrm>
      </p:grpSpPr>
      <p:sp>
        <p:nvSpPr>
          <p:cNvPr id="232" name="Google Shape;232;g3acff814de9_0_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acff814de9_0_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g3acff814de9_0_9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acff814de9_0_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g3acff814de9_0_1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acff814de9_0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g3acff814de9_0_10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acff814de9_0_10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1" name="Shape 261"/>
        <p:cNvGrpSpPr/>
        <p:nvPr/>
      </p:nvGrpSpPr>
      <p:grpSpPr>
        <a:xfrm>
          <a:off x="0" y="0"/>
          <a:ext cx="0" cy="0"/>
          <a:chOff x="0" y="0"/>
          <a:chExt cx="0" cy="0"/>
        </a:xfrm>
      </p:grpSpPr>
      <p:sp>
        <p:nvSpPr>
          <p:cNvPr id="262" name="Google Shape;262;g3acff814de9_0_1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acff814de9_0_1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7" name="Shape 267"/>
        <p:cNvGrpSpPr/>
        <p:nvPr/>
      </p:nvGrpSpPr>
      <p:grpSpPr>
        <a:xfrm>
          <a:off x="0" y="0"/>
          <a:ext cx="0" cy="0"/>
          <a:chOff x="0" y="0"/>
          <a:chExt cx="0" cy="0"/>
        </a:xfrm>
      </p:grpSpPr>
      <p:sp>
        <p:nvSpPr>
          <p:cNvPr id="268" name="Google Shape;268;g3acff814de9_0_37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acff814de9_0_3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accent6"/>
        </a:solidFill>
        <a:effectLst/>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4" name="Google Shape;34;p2"/>
          <p:cNvSpPr txBox="1"/>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accent3"/>
        </a:solidFill>
        <a:effectLst/>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 name="Google Shape;47;p3"/>
          <p:cNvSpPr txBox="1"/>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bg>
      <p:bgPr>
        <a:solidFill>
          <a:schemeClr val="dk2"/>
        </a:solidFill>
        <a:effectLst/>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4"/>
          <p:cNvSpPr txBox="1"/>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55" name="Google Shape;55;p4"/>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bg>
      <p:bgPr>
        <a:solidFill>
          <a:schemeClr val="dk2"/>
        </a:solidFill>
        <a:effectLst/>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60;p5"/>
          <p:cNvSpPr txBox="1"/>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62" name="Google Shape;62;p5"/>
          <p:cNvSpPr txBox="1"/>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63" name="Google Shape;63;p5"/>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bg>
      <p:bgPr>
        <a:solidFill>
          <a:schemeClr val="dk2"/>
        </a:solidFill>
        <a:effectLst/>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6"/>
          <p:cNvSpPr txBox="1"/>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7"/>
          <p:cNvSpPr txBox="1"/>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76" name="Google Shape;76;p7"/>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93" name="Google Shape;93;p8"/>
          <p:cNvSpPr txBox="1"/>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9"/>
          <p:cNvSpPr txBox="1"/>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p:txBody>
      </p:sp>
      <p:sp>
        <p:nvSpPr>
          <p:cNvPr id="102" name="Google Shape;102;p9"/>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10"/>
          <p:cNvSpPr txBox="1"/>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p:txBody>
      </p:sp>
      <p:sp>
        <p:nvSpPr>
          <p:cNvPr id="108" name="Google Shape;108;p10"/>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9" name="Google Shape;119;p11"/>
          <p:cNvSpPr txBox="1"/>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p:txBody>
      </p:sp>
      <p:sp>
        <p:nvSpPr>
          <p:cNvPr id="121" name="Google Shape;121;p11"/>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2" name="Shape 122"/>
        <p:cNvGrpSpPr/>
        <p:nvPr/>
      </p:nvGrpSpPr>
      <p:grpSpPr>
        <a:xfrm>
          <a:off x="0" y="0"/>
          <a:ext cx="0" cy="0"/>
          <a:chOff x="0" y="0"/>
          <a:chExt cx="0" cy="0"/>
        </a:xfrm>
      </p:grpSpPr>
      <p:sp>
        <p:nvSpPr>
          <p:cNvPr id="123" name="Google Shape;123;p12"/>
          <p:cNvSpPr txBox="1"/>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panose="020F0502020204030204"/>
              <a:buChar char="●"/>
              <a:defRPr sz="1300">
                <a:solidFill>
                  <a:schemeClr val="dk2"/>
                </a:solidFill>
                <a:latin typeface="Calibri" panose="020F0502020204030204"/>
                <a:ea typeface="Calibri" panose="020F0502020204030204"/>
                <a:cs typeface="Calibri" panose="020F0502020204030204"/>
                <a:sym typeface="Calibri" panose="020F0502020204030204"/>
              </a:defRPr>
            </a:lvl1pPr>
            <a:lvl2pPr marL="914400" lvl="1"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2pPr>
            <a:lvl3pPr marL="1371600" lvl="2"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3pPr>
            <a:lvl4pPr marL="1828800" lvl="3"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4pPr>
            <a:lvl5pPr marL="2286000" lvl="4"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5pPr>
            <a:lvl6pPr marL="2743200" lvl="5"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6pPr>
            <a:lvl7pPr marL="3200400" lvl="6"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7pPr>
            <a:lvl8pPr marL="3657600" lvl="7"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8pPr>
            <a:lvl9pPr marL="4114800" lvl="8" indent="-298450">
              <a:lnSpc>
                <a:spcPct val="115000"/>
              </a:lnSpc>
              <a:spcBef>
                <a:spcPts val="0"/>
              </a:spcBef>
              <a:spcAft>
                <a:spcPts val="0"/>
              </a:spcAft>
              <a:buClr>
                <a:schemeClr val="dk2"/>
              </a:buClr>
              <a:buSzPts val="1100"/>
              <a:buFont typeface="Calibri" panose="020F0502020204030204"/>
              <a:buChar char="■"/>
              <a:defRPr sz="1100">
                <a:solidFill>
                  <a:schemeClr val="dk2"/>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27" name="Shape 127"/>
        <p:cNvGrpSpPr/>
        <p:nvPr/>
      </p:nvGrpSpPr>
      <p:grpSpPr>
        <a:xfrm>
          <a:off x="0" y="0"/>
          <a:ext cx="0" cy="0"/>
          <a:chOff x="0" y="0"/>
          <a:chExt cx="0" cy="0"/>
        </a:xfrm>
      </p:grpSpPr>
      <p:sp>
        <p:nvSpPr>
          <p:cNvPr id="128" name="Google Shape;128;p13"/>
          <p:cNvSpPr txBox="1"/>
          <p:nvPr>
            <p:ph type="subTitle" idx="1"/>
          </p:nvPr>
        </p:nvSpPr>
        <p:spPr>
          <a:xfrm>
            <a:off x="254000" y="854075"/>
            <a:ext cx="8520430" cy="2585085"/>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panose="020B0604020202020204"/>
              <a:buNone/>
            </a:pPr>
            <a:r>
              <a:rPr lang="en-GB" sz="2000" b="1">
                <a:ln>
                  <a:solidFill>
                    <a:sysClr val="windowText" lastClr="000000"/>
                  </a:solidFill>
                </a:ln>
                <a:solidFill>
                  <a:srgbClr val="000000"/>
                </a:solidFill>
                <a:latin typeface="Times New Roman" panose="02020603050405020304"/>
                <a:ea typeface="Times New Roman" panose="02020603050405020304"/>
                <a:cs typeface="Times New Roman" panose="02020603050405020304"/>
                <a:sym typeface="Times New Roman" panose="02020603050405020304"/>
              </a:rPr>
              <a:t>AI - Powered Fake Product Reviews &amp; Bot Detector</a:t>
            </a:r>
            <a:endParaRPr sz="2000" b="1">
              <a:ln>
                <a:solidFill>
                  <a:sysClr val="windowText" lastClr="000000"/>
                </a:solidFill>
              </a:ln>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chemeClr val="dk1"/>
              </a:buClr>
              <a:buSzPts val="1100"/>
              <a:buFont typeface="Arial" panose="020B0604020202020204"/>
              <a:buNone/>
            </a:pPr>
            <a:r>
              <a:rPr lang="en-US" altLang="en-GB" b="1">
                <a:solidFill>
                  <a:srgbClr val="000000"/>
                </a:solidFill>
                <a:latin typeface="Times New Roman" panose="02020603050405020304"/>
                <a:ea typeface="Times New Roman" panose="02020603050405020304"/>
                <a:cs typeface="Times New Roman" panose="02020603050405020304"/>
                <a:sym typeface="Times New Roman" panose="02020603050405020304"/>
              </a:rPr>
              <a:t>Group 5</a:t>
            </a:r>
            <a:r>
              <a:rPr lang="en-GB" b="1">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GB" b="1">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chemeClr val="dk1"/>
              </a:buClr>
              <a:buSzPts val="1100"/>
              <a:buFont typeface="Arial" panose="020B0604020202020204"/>
              <a:buNone/>
            </a:pP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Saivarshitha Sathupalli</a:t>
            </a: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chemeClr val="dk1"/>
              </a:buClr>
              <a:buSzPts val="1100"/>
              <a:buFont typeface="Arial" panose="020B0604020202020204"/>
              <a:buNone/>
            </a:pP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Mounika Mullukuntla</a:t>
            </a: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chemeClr val="dk1"/>
              </a:buClr>
              <a:buSzPts val="1100"/>
              <a:buFont typeface="Arial" panose="020B0604020202020204"/>
              <a:buNone/>
            </a:pP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 Venkatalakshmi Undamatla</a:t>
            </a: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chemeClr val="dk1"/>
              </a:buClr>
              <a:buSzPts val="1100"/>
              <a:buFont typeface="Arial" panose="020B0604020202020204"/>
              <a:buNone/>
            </a:pP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Bhanu Prakash Penugonda</a:t>
            </a: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200000"/>
              </a:lnSpc>
              <a:spcBef>
                <a:spcPts val="0"/>
              </a:spcBef>
              <a:spcAft>
                <a:spcPts val="0"/>
              </a:spcAft>
              <a:buClr>
                <a:schemeClr val="dk1"/>
              </a:buClr>
              <a:buSzPts val="1100"/>
              <a:buFont typeface="Arial" panose="020B0604020202020204"/>
              <a:buNone/>
            </a:pP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28800" lvl="0" indent="0" algn="ctr" rtl="0">
              <a:lnSpc>
                <a:spcPct val="115000"/>
              </a:lnSpc>
              <a:spcBef>
                <a:spcPts val="1200"/>
              </a:spcBef>
              <a:spcAft>
                <a:spcPts val="0"/>
              </a:spcAft>
              <a:buClr>
                <a:schemeClr val="dk1"/>
              </a:buClr>
              <a:buSzPts val="1100"/>
              <a:buFont typeface="Arial" panose="020B0604020202020204"/>
              <a:buNone/>
            </a:pP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828800" lvl="0" indent="0" algn="just" rtl="0">
              <a:lnSpc>
                <a:spcPct val="115000"/>
              </a:lnSpc>
              <a:spcBef>
                <a:spcPts val="1200"/>
              </a:spcBef>
              <a:spcAft>
                <a:spcPts val="0"/>
              </a:spcAft>
              <a:buClr>
                <a:schemeClr val="dk1"/>
              </a:buClr>
              <a:buSzPts val="1100"/>
              <a:buFont typeface="Arial" panose="020B0604020202020204"/>
              <a:buNone/>
            </a:pP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819150" y="370320"/>
            <a:ext cx="7505700" cy="597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GB" sz="2500" b="1">
                <a:latin typeface="Times New Roman" panose="02020603050405020304"/>
                <a:ea typeface="Times New Roman" panose="02020603050405020304"/>
                <a:cs typeface="Times New Roman" panose="02020603050405020304"/>
                <a:sym typeface="Times New Roman" panose="02020603050405020304"/>
              </a:rPr>
              <a:t>Introduction</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34" name="Google Shape;134;p14"/>
          <p:cNvSpPr txBox="1"/>
          <p:nvPr>
            <p:ph type="body" idx="1"/>
          </p:nvPr>
        </p:nvSpPr>
        <p:spPr>
          <a:xfrm>
            <a:off x="741825" y="860830"/>
            <a:ext cx="7869000" cy="32892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US" altLang="en-GB" sz="1400">
                <a:latin typeface="Times New Roman" panose="02020603050405020304"/>
                <a:ea typeface="Times New Roman" panose="02020603050405020304"/>
                <a:cs typeface="Times New Roman" panose="02020603050405020304"/>
                <a:sym typeface="Times New Roman" panose="02020603050405020304"/>
              </a:rPr>
              <a:t>Many sellers now use advanced AI tools, automated bots, and manipulation tactics to influence customer perception and boost product ratings.</a:t>
            </a:r>
            <a:r>
              <a:rPr lang="en-GB" sz="1400">
                <a:latin typeface="Times New Roman" panose="02020603050405020304"/>
                <a:ea typeface="Times New Roman" panose="02020603050405020304"/>
                <a:cs typeface="Times New Roman" panose="02020603050405020304"/>
                <a:sym typeface="Times New Roman" panose="02020603050405020304"/>
              </a:rPr>
              <a:t>These reviews usually come as natural, well-written, and credible, which cannot be detected using the traditional methods.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US" altLang="en-GB" sz="1400">
                <a:latin typeface="Times New Roman" panose="02020603050405020304"/>
                <a:ea typeface="Times New Roman" panose="02020603050405020304"/>
                <a:cs typeface="Times New Roman" panose="02020603050405020304"/>
                <a:sym typeface="Times New Roman" panose="02020603050405020304"/>
              </a:rPr>
              <a:t>These fake reviews often look real, well-written, and trustworthy, making them difficult to spot with traditional methods.</a:t>
            </a:r>
            <a:endParaRPr lang="en-US" altLang="en-GB"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US" altLang="en-GB" sz="1400">
                <a:latin typeface="Times New Roman" panose="02020603050405020304"/>
                <a:ea typeface="Times New Roman" panose="02020603050405020304"/>
                <a:cs typeface="Times New Roman" panose="02020603050405020304"/>
                <a:sym typeface="Times New Roman" panose="02020603050405020304"/>
              </a:rPr>
              <a:t>Our project focuses on building an AI-based system that can accurately detect fake reviews—whether they’re written by humans, bots, or AI tools.</a:t>
            </a:r>
            <a:endParaRPr lang="en-US" altLang="en-GB"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US" altLang="en-GB" sz="1400">
                <a:latin typeface="Times New Roman" panose="02020603050405020304"/>
                <a:ea typeface="Times New Roman" panose="02020603050405020304"/>
                <a:cs typeface="Times New Roman" panose="02020603050405020304"/>
                <a:sym typeface="Times New Roman" panose="02020603050405020304"/>
              </a:rPr>
              <a:t>We combine text analysis, behavioral patterns, and machine learning models to differentiate genuine reviews from fake ones.</a:t>
            </a:r>
            <a:endParaRPr lang="en-US" altLang="en-GB"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US" altLang="en-GB" sz="1400">
                <a:latin typeface="Times New Roman" panose="02020603050405020304"/>
                <a:ea typeface="Times New Roman" panose="02020603050405020304"/>
                <a:cs typeface="Times New Roman" panose="02020603050405020304"/>
                <a:sym typeface="Times New Roman" panose="02020603050405020304"/>
              </a:rPr>
              <a:t>The goal is to create a reliable, user-friendly solution that works effectively in real-world scenarios.</a:t>
            </a:r>
            <a:endParaRPr lang="en-US" altLang="en-GB" sz="14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50000"/>
              </a:lnSpc>
              <a:spcBef>
                <a:spcPts val="1200"/>
              </a:spcBef>
              <a:spcAft>
                <a:spcPts val="120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38" name="Shape 138"/>
        <p:cNvGrpSpPr/>
        <p:nvPr/>
      </p:nvGrpSpPr>
      <p:grpSpPr>
        <a:xfrm>
          <a:off x="0" y="0"/>
          <a:ext cx="0" cy="0"/>
          <a:chOff x="0" y="0"/>
          <a:chExt cx="0" cy="0"/>
        </a:xfrm>
      </p:grpSpPr>
      <p:sp>
        <p:nvSpPr>
          <p:cNvPr id="139" name="Google Shape;139;p15"/>
          <p:cNvSpPr txBox="1"/>
          <p:nvPr>
            <p:ph type="title"/>
          </p:nvPr>
        </p:nvSpPr>
        <p:spPr>
          <a:xfrm>
            <a:off x="819150" y="312830"/>
            <a:ext cx="7505700" cy="655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Problem Statement</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p15"/>
          <p:cNvSpPr txBox="1"/>
          <p:nvPr>
            <p:ph type="body" idx="1"/>
          </p:nvPr>
        </p:nvSpPr>
        <p:spPr>
          <a:xfrm>
            <a:off x="819150" y="813565"/>
            <a:ext cx="7505700" cy="33138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There is a rapid increase in AI-generated and bot-generated reviews on e-commerce platforms more than ever before.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Manual inspection, keyword filtering and simple rule based systems are some of the traditional methods of review moderation that are not effective in detecting AI generated content.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False reviews lead to the consumer losses, reputation issues of the sellers who are actually honest, and market pervertibility.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greatest problem is to differentiate the reviews that are written by humans and those that are generated by machines with high precision.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is addressed by our project through the development of an intelligent detection system that is able to detect faint linguistic, sentiment and structural patterns in text.</a:t>
            </a:r>
            <a:endParaRPr sz="14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200"/>
              </a:spcBef>
              <a:spcAft>
                <a:spcPts val="1200"/>
              </a:spcAft>
              <a:buNone/>
            </a:p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16"/>
          <p:cNvSpPr txBox="1"/>
          <p:nvPr>
            <p:ph type="title"/>
          </p:nvPr>
        </p:nvSpPr>
        <p:spPr>
          <a:xfrm>
            <a:off x="819150" y="325695"/>
            <a:ext cx="7505700" cy="655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Project Motivation</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16"/>
          <p:cNvSpPr txBox="1"/>
          <p:nvPr>
            <p:ph type="body" idx="1"/>
          </p:nvPr>
        </p:nvSpPr>
        <p:spPr>
          <a:xfrm>
            <a:off x="819150" y="859170"/>
            <a:ext cx="7505700" cy="29427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Online purchasing decisions are anchored on customer reviews. Studies indicate that over 90 percent of customers use reviews before they buy any product.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proliferation of AI-assisted faked reviews has introduced negative publicity to the internet.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has prompted us to come up with a way of ensuring that the customers are not manipulated and also ensure that the e-commerce sites have a means of ensuring sanity</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 (Myers, 2024)</a:t>
            </a:r>
            <a:r>
              <a:rPr lang="en-GB" sz="1400">
                <a:latin typeface="Times New Roman" panose="02020603050405020304"/>
                <a:ea typeface="Times New Roman" panose="02020603050405020304"/>
                <a:cs typeface="Times New Roman" panose="02020603050405020304"/>
                <a:sym typeface="Times New Roman" panose="02020603050405020304"/>
              </a:rPr>
              <a:t>.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Our mission is to make buying products on the internet more transparent, less fraudulent and assisted sellers in good faith by eliminating fake reviews.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project presents a possibility to apply the latest AI methods to the real world which is value academically, professionally, and commercially.</a:t>
            </a:r>
            <a:endParaRPr sz="14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5000"/>
              </a:lnSpc>
              <a:spcBef>
                <a:spcPts val="1200"/>
              </a:spcBef>
              <a:spcAft>
                <a:spcPts val="1200"/>
              </a:spcAft>
              <a:buNone/>
            </a:p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880975" y="385155"/>
            <a:ext cx="7505700" cy="687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Objectives of the Project</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17"/>
          <p:cNvSpPr txBox="1"/>
          <p:nvPr>
            <p:ph type="body" idx="1"/>
          </p:nvPr>
        </p:nvSpPr>
        <p:spPr>
          <a:xfrm>
            <a:off x="880975" y="867245"/>
            <a:ext cx="7505700" cy="32640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primary goal of the project is to create a working system that will be able to categorize reviews as Human-written, AI-generated, or Bot-spam and at the same time terming them as Fake or Genuine.</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secondary goals are the creation of a convenient web interface, user security of interaction, and the real-time classification of the highest accuracy.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system is geared towards handling vast volumes of data and providing forecasts within seconds, therefore, it is feasible to be incorporated with any e-commerce application.</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 Other communication features that we sought to incorporate in order to enhance the user experience and administrative control included a contact system and notification panel.</a:t>
            </a:r>
            <a:endParaRPr sz="14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18"/>
          <p:cNvSpPr txBox="1"/>
          <p:nvPr>
            <p:ph type="title"/>
          </p:nvPr>
        </p:nvSpPr>
        <p:spPr>
          <a:xfrm>
            <a:off x="819150" y="345935"/>
            <a:ext cx="7505700" cy="680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Literature Review Summary</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p18"/>
          <p:cNvSpPr txBox="1"/>
          <p:nvPr>
            <p:ph type="body" idx="1"/>
          </p:nvPr>
        </p:nvSpPr>
        <p:spPr>
          <a:xfrm>
            <a:off x="819150" y="888340"/>
            <a:ext cx="7505700" cy="3144600"/>
          </a:xfrm>
          <a:prstGeom prst="rect">
            <a:avLst/>
          </a:prstGeom>
        </p:spPr>
        <p:txBody>
          <a:bodyPr spcFirstLastPara="1" wrap="square" lIns="91425" tIns="91425" rIns="91425" bIns="91425" anchor="t" anchorCtr="0">
            <a:normAutofit lnSpcReduction="10000"/>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As part of our literature review, a number of research studies were found pertaining to the dangers of AI-generated misinformation.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Myers (2024) argues that the AI generated content is easy to be influenced because of its natural human voice, making it more likely to be manipulated.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According to Chandra (2025), AI tools are applied not only to commit fraud but also to identify it, and this is a dual aspect of AIs in the digital world.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Paul and Nikolaev (2021) emphasize that the combination of text, behavior, and network pattern hybrid detection models are most accurate.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All of these studies point to the necessity of sophisticated AI-based solutions that would be able to identify fake and untruthful reviews, which is what our system is based on.</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819150" y="355300"/>
            <a:ext cx="7505700" cy="670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Existing Solutions &amp; Gaps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64" name="Google Shape;164;p19"/>
          <p:cNvSpPr txBox="1"/>
          <p:nvPr>
            <p:ph type="body" idx="1"/>
          </p:nvPr>
        </p:nvSpPr>
        <p:spPr>
          <a:xfrm>
            <a:off x="819150" y="881800"/>
            <a:ext cx="7505700" cy="32763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current solutions, Amazon internal filters, automated review checks used by Yelp, or independent tools (Fakespot and ReviewMeta) attempt to spot fake reviews.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They are, however, lacking in limitations. The majority of them are based on the uncomplicated linguistic patterns, do not pay attention to the actions of users, and cannot detect the coordinated attacks of bots.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They are unable to recognize more recent AI-generated reviews that are written like a human. Most existing solutions lack transparency and prediction elaboration as well.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Our system seals these gaps with a series of classification layers, Human vs. AI vs. Bot with confidence scores and clear explanations, which help build trust.</a:t>
            </a:r>
            <a:endParaRPr sz="14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5000"/>
              </a:lnSpc>
              <a:spcBef>
                <a:spcPts val="1200"/>
              </a:spcBef>
              <a:spcAft>
                <a:spcPts val="1200"/>
              </a:spcAft>
              <a:buNone/>
            </a:p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sp>
        <p:nvSpPr>
          <p:cNvPr id="169" name="Google Shape;169;p20"/>
          <p:cNvSpPr txBox="1"/>
          <p:nvPr>
            <p:ph type="title"/>
          </p:nvPr>
        </p:nvSpPr>
        <p:spPr>
          <a:xfrm>
            <a:off x="868625" y="343365"/>
            <a:ext cx="7505700" cy="576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Proposed Solution Overview</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20"/>
          <p:cNvSpPr txBox="1"/>
          <p:nvPr>
            <p:ph type="body" idx="1"/>
          </p:nvPr>
        </p:nvSpPr>
        <p:spPr>
          <a:xfrm>
            <a:off x="819095" y="919305"/>
            <a:ext cx="7505700" cy="3276600"/>
          </a:xfrm>
          <a:prstGeom prst="rect">
            <a:avLst/>
          </a:prstGeom>
        </p:spPr>
        <p:txBody>
          <a:bodyPr spcFirstLastPara="1" wrap="square" lIns="91425" tIns="91425" rIns="91425" bIns="91425" anchor="t" anchorCtr="0">
            <a:normAutofit lnSpcReduction="20000"/>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Our solution proposes a high-quality AI-based system that is able to identify fake reviews with a high rate of accuracy.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 is a mixture of machine learning (TF-IDF + SGDClassifier), natural language processing, and a complete Django-based web-app.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users are able to enter the review and immediately be assigned a comprehensive classification Human, AI, or Bot, and Fake/Genuine label and confidence score.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characteristics are secure log-in, communication by messages, notification, the dashboard of the administration, and output of the prediction in real time.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hybrid system of detection is more accurate than the conventional ones.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Its architecture is designed in a modular way (enabling it to be integrated with e-commerce platforms, academic tools, or as a separate commercial review-analysis service).</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819150" y="310550"/>
            <a:ext cx="7505700" cy="625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Dataset Used</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76" name="Google Shape;176;p21"/>
          <p:cNvSpPr txBox="1"/>
          <p:nvPr>
            <p:ph type="body" idx="1"/>
          </p:nvPr>
        </p:nvSpPr>
        <p:spPr>
          <a:xfrm>
            <a:off x="819150" y="891820"/>
            <a:ext cx="7505700" cy="34497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 variety of both real and synthetic samples of reviews is represented in our data set. These include:</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Amazon Natural and verified customer reviews (human reviews).</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False Opinion Spam Corpus (artificial human-written reviews)</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AI generated reviews generated by current language models.</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Robot-generated spam promotion</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 (</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Myers, 2024)</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50000"/>
              </a:lnSpc>
              <a:spcBef>
                <a:spcPts val="1200"/>
              </a:spcBef>
              <a:spcAft>
                <a:spcPts val="1200"/>
              </a:spcAft>
              <a:buNone/>
            </a:pPr>
            <a:r>
              <a:rPr lang="en-GB" sz="1400">
                <a:latin typeface="Times New Roman" panose="02020603050405020304"/>
                <a:ea typeface="Times New Roman" panose="02020603050405020304"/>
                <a:cs typeface="Times New Roman" panose="02020603050405020304"/>
                <a:sym typeface="Times New Roman" panose="02020603050405020304"/>
              </a:rPr>
              <a:t>This combination will make sure that this model picks up fine details between the legitimate human reviews and artificially generated content. The sample size was equalized to avoid biases. The dataset that had gone through the cleaning, preprocessing and vectorization provided the model with an accuracy of 96, which is an excellent rate of generalization and reliability.</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sp>
        <p:nvSpPr>
          <p:cNvPr id="181" name="Google Shape;181;p22"/>
          <p:cNvSpPr txBox="1"/>
          <p:nvPr>
            <p:ph type="title"/>
          </p:nvPr>
        </p:nvSpPr>
        <p:spPr>
          <a:xfrm>
            <a:off x="819150" y="304500"/>
            <a:ext cx="7505700" cy="657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Machine Learning Model</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82" name="Google Shape;182;p22"/>
          <p:cNvSpPr txBox="1"/>
          <p:nvPr>
            <p:ph type="body" idx="1"/>
          </p:nvPr>
        </p:nvSpPr>
        <p:spPr>
          <a:xfrm>
            <a:off x="819150" y="796185"/>
            <a:ext cx="7505700" cy="31470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we used a lean yet powerful pipeline that included TF-IDF Vectorizer to extract features and SGDClassifier to perform a multi-class classification.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 is an architecture with high accuracy, but fast enough to be used in web deployments. The model categorizes reviews as Human, AI or Bot and gives a label of Fake/Genuine.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TF-IDF identifies the significance of words, whereas the linear classifier is effective in identifying minor linguistic variations.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Joblib was used to save the final model and then it can be easily integrated with Django without performance overhead.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will provide scalability, transparency and efficiency in prediction in real time.</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6" name="Shape 186"/>
        <p:cNvGrpSpPr/>
        <p:nvPr/>
      </p:nvGrpSpPr>
      <p:grpSpPr>
        <a:xfrm>
          <a:off x="0" y="0"/>
          <a:ext cx="0" cy="0"/>
          <a:chOff x="0" y="0"/>
          <a:chExt cx="0" cy="0"/>
        </a:xfrm>
      </p:grpSpPr>
      <p:sp>
        <p:nvSpPr>
          <p:cNvPr id="187" name="Google Shape;187;p23"/>
          <p:cNvSpPr txBox="1"/>
          <p:nvPr>
            <p:ph type="title"/>
          </p:nvPr>
        </p:nvSpPr>
        <p:spPr>
          <a:xfrm>
            <a:off x="819150" y="454450"/>
            <a:ext cx="7505700" cy="712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Model Training Workflow</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88" name="Google Shape;188;p23"/>
          <p:cNvSpPr txBox="1"/>
          <p:nvPr>
            <p:ph type="body" idx="1"/>
          </p:nvPr>
        </p:nvSpPr>
        <p:spPr>
          <a:xfrm>
            <a:off x="732790" y="1079900"/>
            <a:ext cx="7505700" cy="2930100"/>
          </a:xfrm>
          <a:prstGeom prst="rect">
            <a:avLst/>
          </a:prstGeom>
        </p:spPr>
        <p:txBody>
          <a:bodyPr spcFirstLastPara="1" wrap="square" lIns="91425" tIns="91425" rIns="91425" bIns="91425" anchor="t" anchorCtr="0">
            <a:normAutofit lnSpcReduction="10000"/>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Our training process was organized in the following way:</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Data Cleaning: Elimination of duplicates, punctuation marks and stopwords.</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Train- Test Split 80% training, 20% testing</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Tokenization &amp; Vectorization: Turning text into TF-IDF numerical features.</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Training Model: Size optimization of SGDClassifier.</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Assessment: The accuracy, precision, recall, and the F1-score.</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Saving Model: Pipeline is exported as a joblib file.</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workflow is guaranteed so that the model is optimized, correct and production ready. It also enables the consistent retraining in cases where new information gets available.</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sp>
        <p:nvSpPr>
          <p:cNvPr id="193" name="Google Shape;193;p24"/>
          <p:cNvSpPr txBox="1"/>
          <p:nvPr>
            <p:ph type="title"/>
          </p:nvPr>
        </p:nvSpPr>
        <p:spPr>
          <a:xfrm>
            <a:off x="819150" y="423715"/>
            <a:ext cx="7505700" cy="680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Evaluation Results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194" name="Google Shape;194;p24"/>
          <p:cNvSpPr txBox="1"/>
          <p:nvPr>
            <p:ph type="body" idx="1"/>
          </p:nvPr>
        </p:nvSpPr>
        <p:spPr>
          <a:xfrm>
            <a:off x="819150" y="1024440"/>
            <a:ext cx="7505700" cy="33135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model performed excellently when used to evaluate. It has a high-precision capacity of differentiating Human, AI and Bot review styles (96).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There was a balanced performance of precision and recall values, which were high across all the categories.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confusion matrix also showed that the model had marginal misclassifications and this indicates that the model is reliable when it comes to unknown text.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These measures prove that our method is able to generalize and withstand random review trends.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Through the conduction of assessments on a vast and heterogeneous dataset, we were able to ascertain that the system is responsive to actual reviews in the real world on different platforms.</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25"/>
          <p:cNvSpPr txBox="1"/>
          <p:nvPr>
            <p:ph type="title"/>
          </p:nvPr>
        </p:nvSpPr>
        <p:spPr>
          <a:xfrm>
            <a:off x="819150" y="453640"/>
            <a:ext cx="7505700" cy="680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System Architecture</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Google Shape;200;p25"/>
          <p:cNvSpPr txBox="1"/>
          <p:nvPr>
            <p:ph type="body" idx="1"/>
          </p:nvPr>
        </p:nvSpPr>
        <p:spPr>
          <a:xfrm>
            <a:off x="819150" y="1019515"/>
            <a:ext cx="7505700" cy="31032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system is based on three-layered architecture to provide efficiency and maintainability.</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Presentation Layer: Interface coded in HTML, CSS, JavaScript and Bootstrap.</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Application Layer: Django backend provides users with authentication, ML predictions, communication, and business logic.</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Data Layer: MySQL contains user data, messages, and notifications along with review logs.</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modular framework keeps roles apart and hence it is easy to scale and maintain. The architecture facilitates interactive updates in the UI and real-time inference of ML. It also provides safe data flow and optimality of resources used and thus the system can be deployed to the real world.</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819150" y="397290"/>
            <a:ext cx="7505700" cy="576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System Features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06" name="Google Shape;206;p26"/>
          <p:cNvSpPr txBox="1"/>
          <p:nvPr>
            <p:ph type="body" idx="1"/>
          </p:nvPr>
        </p:nvSpPr>
        <p:spPr>
          <a:xfrm>
            <a:off x="760730" y="933750"/>
            <a:ext cx="7505700" cy="32766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has various interactive features that provide the convenience and functionality. These include:</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Real-time review prediction</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Human, AI and Bot text classification.</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Confidence results in transparency.</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Reason behind every prediction.</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User registration and login</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Page where people can contact the administration.</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Admin reply notification system.</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Advisor dashboard to control user messages.</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 Fully responsive UI</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819150" y="349880"/>
            <a:ext cx="7505700" cy="66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User Interface (Homepage)</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12" name="Google Shape;212;p27"/>
          <p:cNvSpPr txBox="1"/>
          <p:nvPr>
            <p:ph type="body" idx="1"/>
          </p:nvPr>
        </p:nvSpPr>
        <p:spPr>
          <a:xfrm>
            <a:off x="819150" y="940855"/>
            <a:ext cx="7505700" cy="3260700"/>
          </a:xfrm>
          <a:prstGeom prst="rect">
            <a:avLst/>
          </a:prstGeom>
        </p:spPr>
        <p:txBody>
          <a:bodyPr spcFirstLastPara="1" wrap="square" lIns="91425" tIns="91425" rIns="91425" bIns="91425" anchor="t" anchorCtr="0">
            <a:normAutofit lnSpcReduction="10000"/>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Homepage is the primary point of entry following the logins. It shows a welcome message which is personalized, user information, and unread messages.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user is directed to the prediction, contact and notification pages with the help of the navigation buttons.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design is clear, easy to use and both mobile and desktop friendly. Bootstrap elements are used to provide consistency and responsiveness.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is the main hub where the users can effortlessly browse through the main features of the system without having to move around the complicated menus.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dashboard is trustworthy as it displays critical information in an easy to understand, organized way that enhances user experience.</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819150" y="288150"/>
            <a:ext cx="7505700" cy="667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400" b="1">
                <a:latin typeface="Times New Roman" panose="02020603050405020304"/>
                <a:ea typeface="Times New Roman" panose="02020603050405020304"/>
                <a:cs typeface="Times New Roman" panose="02020603050405020304"/>
                <a:sym typeface="Times New Roman" panose="02020603050405020304"/>
              </a:rPr>
              <a:t>Review Prediction System</a:t>
            </a:r>
            <a:r>
              <a:rPr lang="en-US" altLang="en-GB" sz="2400" b="1">
                <a:latin typeface="Times New Roman" panose="02020603050405020304"/>
                <a:ea typeface="Times New Roman" panose="02020603050405020304"/>
                <a:cs typeface="Times New Roman" panose="02020603050405020304"/>
                <a:sym typeface="Times New Roman" panose="02020603050405020304"/>
              </a:rPr>
              <a:t>:</a:t>
            </a:r>
            <a:endParaRPr lang="en-US" altLang="en-GB" sz="2400" b="1">
              <a:latin typeface="Times New Roman" panose="02020603050405020304"/>
              <a:ea typeface="Times New Roman" panose="02020603050405020304"/>
              <a:cs typeface="Times New Roman" panose="02020603050405020304"/>
              <a:sym typeface="Times New Roman" panose="02020603050405020304"/>
            </a:endParaRPr>
          </a:p>
        </p:txBody>
      </p:sp>
      <p:sp>
        <p:nvSpPr>
          <p:cNvPr id="218" name="Google Shape;218;p28"/>
          <p:cNvSpPr txBox="1"/>
          <p:nvPr>
            <p:ph type="body" idx="1"/>
          </p:nvPr>
        </p:nvSpPr>
        <p:spPr>
          <a:xfrm>
            <a:off x="819150" y="812140"/>
            <a:ext cx="7505700" cy="27942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review of a product is typed or copied and inserted into a big text box.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When they press the button in the form of Analyze, the review is forwarded to the backend to be classified </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Paul &amp; Nikolaev, 2021)</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 </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ML pipeline is used to forecast whether the review is a Human, AI written, or Bot-written, and classify it as Fake or Genuine.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page will have the predicted category, percentage of confidence, and explanation.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Its easy to analyze layout makes it user friendly and the best layout when it comes to customers, sellers and researchers since it allows analysis of long reviews quickly. </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819150" y="378750"/>
            <a:ext cx="7505700" cy="704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Example Prediction Results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29"/>
          <p:cNvSpPr txBox="1"/>
          <p:nvPr>
            <p:ph type="body" idx="1"/>
          </p:nvPr>
        </p:nvSpPr>
        <p:spPr>
          <a:xfrm>
            <a:off x="819150" y="880220"/>
            <a:ext cx="7505700" cy="33834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We experimented with several real and synthetic reviews with the system. The model was able to pick out the promotional content generated by the bots with high confidence because of repetitive keywords.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Reviews created by AI were marked as such due to the unnaturally high grammar and unnatural form. Reviews that were written by human beings, particularly those that are emotional or experience-based were marked as genuine appropriately.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web application screenshots depict the way the predictions have been presented in a clear format with confidence percentages and explanations.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is the demonstration of the practicality and usefulness of the system in real-life conditions of ordinary consumers and administrators.</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28" name="Shape 228"/>
        <p:cNvGrpSpPr/>
        <p:nvPr/>
      </p:nvGrpSpPr>
      <p:grpSpPr>
        <a:xfrm>
          <a:off x="0" y="0"/>
          <a:ext cx="0" cy="0"/>
          <a:chOff x="0" y="0"/>
          <a:chExt cx="0" cy="0"/>
        </a:xfrm>
      </p:grpSpPr>
      <p:sp>
        <p:nvSpPr>
          <p:cNvPr id="229" name="Google Shape;229;p30"/>
          <p:cNvSpPr txBox="1"/>
          <p:nvPr>
            <p:ph type="title"/>
          </p:nvPr>
        </p:nvSpPr>
        <p:spPr>
          <a:xfrm>
            <a:off x="819150" y="375145"/>
            <a:ext cx="7505700" cy="667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Contact &amp; Notification System</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30" name="Google Shape;230;p30"/>
          <p:cNvSpPr txBox="1"/>
          <p:nvPr>
            <p:ph type="body" idx="1"/>
          </p:nvPr>
        </p:nvSpPr>
        <p:spPr>
          <a:xfrm>
            <a:off x="819150" y="922510"/>
            <a:ext cx="7505700" cy="29922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One of the improvements in Phase 2 is the communication module. The Contact page allows users to send queries, concerns or feedbacks.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Messages are added to the database and are instantly displayed on the admin panel. Upon the reply of the admin, users are notified in the Notification Panel, under unread messages.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This is a two-way messaging system that helps to increase user engagement, troubleshooting and create credibility.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 provides a business-like interactive platform where users feel welcome.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Such a system also assists the administrators in keeping the track of the frequent problems and enhancing the model or interface as time passes.</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34" name="Shape 234"/>
        <p:cNvGrpSpPr/>
        <p:nvPr/>
      </p:nvGrpSpPr>
      <p:grpSpPr>
        <a:xfrm>
          <a:off x="0" y="0"/>
          <a:ext cx="0" cy="0"/>
          <a:chOff x="0" y="0"/>
          <a:chExt cx="0" cy="0"/>
        </a:xfrm>
      </p:grpSpPr>
      <p:sp>
        <p:nvSpPr>
          <p:cNvPr id="235" name="Google Shape;235;p31"/>
          <p:cNvSpPr txBox="1"/>
          <p:nvPr>
            <p:ph type="title"/>
          </p:nvPr>
        </p:nvSpPr>
        <p:spPr>
          <a:xfrm>
            <a:off x="819150" y="326410"/>
            <a:ext cx="7505700" cy="642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Admin Dashboard</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36" name="Google Shape;236;p31"/>
          <p:cNvSpPr txBox="1"/>
          <p:nvPr>
            <p:ph type="body" idx="1"/>
          </p:nvPr>
        </p:nvSpPr>
        <p:spPr>
          <a:xfrm>
            <a:off x="819150" y="897040"/>
            <a:ext cx="7505700" cy="33492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management interface called the Admin dashboard is a robust management interface that is internally integrated with Django.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admins are able to log in with secure credentials and access all user messages, system logs and flagged activities.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Using the dashboard, it is possible to send replies to the user and to state that the problems are solved.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 assists in monitoring the actions of users and controlling the entries within the database, as well as reading about the statistics of messages.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 also ensure that every communication is duly recorded, thus the system is good in the long-term usage.</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819150" y="379630"/>
            <a:ext cx="7505700" cy="680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Security Features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42" name="Google Shape;242;p32"/>
          <p:cNvSpPr txBox="1"/>
          <p:nvPr>
            <p:ph type="body" idx="1"/>
          </p:nvPr>
        </p:nvSpPr>
        <p:spPr>
          <a:xfrm>
            <a:off x="819150" y="958150"/>
            <a:ext cx="7505700" cy="30540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Security is a very important component in this project. Django provides a secure user authentication system that is used in our system.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hashing algorithms are used to encrypt passwords before they are stored and this is used to secure sensitive information.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Any server-client communication is performed by using HTTPS to avoid interception or alterations. CSRF tokens are used to prevent malicious requests on forms.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Role based access makes sure that the admins are the only ones who have access to critical sections.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To avoid SQL injection, the database is secured by the use of query parameterization. </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34"/>
          <p:cNvSpPr txBox="1"/>
          <p:nvPr>
            <p:ph type="title"/>
          </p:nvPr>
        </p:nvSpPr>
        <p:spPr>
          <a:xfrm>
            <a:off x="880975" y="380440"/>
            <a:ext cx="7505700" cy="6258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Results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54" name="Google Shape;254;p34"/>
          <p:cNvSpPr txBox="1"/>
          <p:nvPr>
            <p:ph type="body" idx="1"/>
          </p:nvPr>
        </p:nvSpPr>
        <p:spPr>
          <a:xfrm>
            <a:off x="819150" y="945705"/>
            <a:ext cx="7505700" cy="30663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rgbClr val="434343"/>
              </a:buClr>
              <a:buSzPts val="1400"/>
              <a:buFont typeface="Times New Roman" panose="02020603050405020304"/>
              <a:buChar char="●"/>
            </a:pP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The result </a:t>
            </a: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concentrated on the implementation of machine learning model into a working Django web application. </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434343"/>
              </a:buClr>
              <a:buSzPts val="1400"/>
              <a:buFont typeface="Times New Roman" panose="02020603050405020304"/>
              <a:buChar char="●"/>
            </a:pP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We built UI pages in login, registration, prediction, contact, notifications and admin functionality.</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434343"/>
              </a:buClr>
              <a:buSzPts val="1400"/>
              <a:buFont typeface="Times New Roman" panose="02020603050405020304"/>
              <a:buChar char="●"/>
            </a:pP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The model was optimally loaded into Django such that prediction will occur immediately when necessary without the need to resload the model whenever a request arrived. </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434343"/>
              </a:buClr>
              <a:buSzPts val="1400"/>
              <a:buFont typeface="Times New Roman" panose="02020603050405020304"/>
              <a:buChar char="●"/>
            </a:pP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We have defined secure user activities, communication of messages, and response mechanisms. </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434343"/>
              </a:buClr>
              <a:buSzPts val="1400"/>
              <a:buFont typeface="Times New Roman" panose="02020603050405020304"/>
              <a:buChar char="●"/>
            </a:pPr>
            <a:r>
              <a:rPr lang="en-GB" sz="1400">
                <a:solidFill>
                  <a:srgbClr val="434343"/>
                </a:solidFill>
                <a:latin typeface="Times New Roman" panose="02020603050405020304"/>
                <a:ea typeface="Times New Roman" panose="02020603050405020304"/>
                <a:cs typeface="Times New Roman" panose="02020603050405020304"/>
                <a:sym typeface="Times New Roman" panose="02020603050405020304"/>
              </a:rPr>
              <a:t>This step was used to convert the project into a Python-based ML model into a real-life interactive web application. It made the system much more useful, accessible and commercial.</a:t>
            </a:r>
            <a:endParaRPr sz="14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819150" y="332805"/>
            <a:ext cx="7505700" cy="670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500" b="1">
                <a:latin typeface="Times New Roman" panose="02020603050405020304"/>
                <a:ea typeface="Times New Roman" panose="02020603050405020304"/>
                <a:cs typeface="Times New Roman" panose="02020603050405020304"/>
                <a:sym typeface="Times New Roman" panose="02020603050405020304"/>
              </a:rPr>
              <a:t>Achievements</a:t>
            </a:r>
            <a:r>
              <a:rPr lang="en-US" altLang="en-GB" sz="2500" b="1">
                <a:latin typeface="Times New Roman" panose="02020603050405020304"/>
                <a:ea typeface="Times New Roman" panose="02020603050405020304"/>
                <a:cs typeface="Times New Roman" panose="02020603050405020304"/>
                <a:sym typeface="Times New Roman" panose="02020603050405020304"/>
              </a:rPr>
              <a:t>:</a:t>
            </a:r>
            <a:endParaRPr lang="en-US" altLang="en-GB" sz="2500" b="1">
              <a:latin typeface="Times New Roman" panose="02020603050405020304"/>
              <a:ea typeface="Times New Roman" panose="02020603050405020304"/>
              <a:cs typeface="Times New Roman" panose="02020603050405020304"/>
              <a:sym typeface="Times New Roman" panose="02020603050405020304"/>
            </a:endParaRPr>
          </a:p>
        </p:txBody>
      </p:sp>
      <p:sp>
        <p:nvSpPr>
          <p:cNvPr id="260" name="Google Shape;260;p35"/>
          <p:cNvSpPr txBox="1"/>
          <p:nvPr>
            <p:ph type="body" idx="1"/>
          </p:nvPr>
        </p:nvSpPr>
        <p:spPr>
          <a:xfrm>
            <a:off x="905700" y="870155"/>
            <a:ext cx="7505700" cy="3251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Some of the key milestones of our project were the following ones:</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Trained an accurate (96) multi-class ML classifier.</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Enacted Fake vs. Genuine labeling.</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Created a fully developed Django system.</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Developed communication and notification services.</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Coded contemporary responsive UIs.</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Integrated ML models successfully with web backend.</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Secured security, performance and scalability.</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50000"/>
              </a:lnSpc>
              <a:spcBef>
                <a:spcPts val="0"/>
              </a:spcBef>
              <a:spcAft>
                <a:spcPts val="0"/>
              </a:spcAft>
              <a:buClr>
                <a:schemeClr val="dk1"/>
              </a:buClr>
              <a:buSzPts val="1100"/>
              <a:buFont typeface="Arial" panose="020B0604020202020204"/>
              <a:buNone/>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The software is currently an out of the box solution to e-commerce websites, review management services, and university research. </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64" name="Shape 264"/>
        <p:cNvGrpSpPr/>
        <p:nvPr/>
      </p:nvGrpSpPr>
      <p:grpSpPr>
        <a:xfrm>
          <a:off x="0" y="0"/>
          <a:ext cx="0" cy="0"/>
          <a:chOff x="0" y="0"/>
          <a:chExt cx="0" cy="0"/>
        </a:xfrm>
      </p:grpSpPr>
      <p:sp>
        <p:nvSpPr>
          <p:cNvPr id="265" name="Google Shape;265;p36"/>
          <p:cNvSpPr txBox="1"/>
          <p:nvPr>
            <p:ph type="title"/>
          </p:nvPr>
        </p:nvSpPr>
        <p:spPr>
          <a:xfrm>
            <a:off x="819150" y="411260"/>
            <a:ext cx="7505700" cy="780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400" b="1">
                <a:solidFill>
                  <a:schemeClr val="bg1"/>
                </a:solidFill>
                <a:latin typeface="Times New Roman" panose="02020603050405020304" charset="0"/>
                <a:cs typeface="Times New Roman" panose="02020603050405020304" charset="0"/>
              </a:rPr>
              <a:t>Conclusion</a:t>
            </a:r>
            <a:r>
              <a:rPr lang="en-US" altLang="en-GB" sz="2400" b="1">
                <a:solidFill>
                  <a:schemeClr val="bg1"/>
                </a:solidFill>
                <a:latin typeface="Times New Roman" panose="02020603050405020304" charset="0"/>
                <a:cs typeface="Times New Roman" panose="02020603050405020304" charset="0"/>
              </a:rPr>
              <a:t>:</a:t>
            </a:r>
            <a:endParaRPr lang="en-US" altLang="en-GB" sz="2400" b="1">
              <a:solidFill>
                <a:schemeClr val="bg1"/>
              </a:solidFill>
              <a:latin typeface="Times New Roman" panose="02020603050405020304" charset="0"/>
              <a:cs typeface="Times New Roman" panose="02020603050405020304" charset="0"/>
            </a:endParaRPr>
          </a:p>
        </p:txBody>
      </p:sp>
      <p:sp>
        <p:nvSpPr>
          <p:cNvPr id="266" name="Google Shape;266;p36"/>
          <p:cNvSpPr txBox="1"/>
          <p:nvPr>
            <p:ph type="body" idx="1"/>
          </p:nvPr>
        </p:nvSpPr>
        <p:spPr>
          <a:xfrm>
            <a:off x="819150" y="901745"/>
            <a:ext cx="7505700" cy="30798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project illustrates the idea of a solid, well-developed and viable solution to one of the largest problems of the digital world which is fake and AI-generated product reviews.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With NLP, machine learning and web development we developed a system that is capable of detecting fake reviews with accuracy and is able to provide transparency in the form of confidence scores and explanations.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The web application based on Django platform allows real-time prediction, safe user communication, management, and communication functionality. </a:t>
            </a:r>
            <a:endParaRPr sz="1400">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SzPts val="1400"/>
              <a:buFont typeface="Times New Roman" panose="02020603050405020304"/>
              <a:buChar char="●"/>
            </a:pPr>
            <a:r>
              <a:rPr lang="en-GB" sz="1400">
                <a:latin typeface="Times New Roman" panose="02020603050405020304"/>
                <a:ea typeface="Times New Roman" panose="02020603050405020304"/>
                <a:cs typeface="Times New Roman" panose="02020603050405020304"/>
                <a:sym typeface="Times New Roman" panose="02020603050405020304"/>
              </a:rPr>
              <a:t>It improves trust among the users, helps to endorse authentic sellers, and helps to make online markets safer.</a:t>
            </a:r>
            <a:endParaRPr sz="1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37"/>
          <p:cNvSpPr txBox="1"/>
          <p:nvPr>
            <p:ph type="title"/>
          </p:nvPr>
        </p:nvSpPr>
        <p:spPr>
          <a:xfrm>
            <a:off x="819150" y="418880"/>
            <a:ext cx="7505700" cy="600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400" b="1">
                <a:latin typeface="Times New Roman" panose="02020603050405020304" charset="0"/>
                <a:cs typeface="Times New Roman" panose="02020603050405020304" charset="0"/>
              </a:rPr>
              <a:t>References</a:t>
            </a:r>
            <a:r>
              <a:rPr lang="en-US" altLang="en-GB" sz="2400" b="1">
                <a:latin typeface="Times New Roman" panose="02020603050405020304" charset="0"/>
                <a:cs typeface="Times New Roman" panose="02020603050405020304" charset="0"/>
              </a:rPr>
              <a:t>:</a:t>
            </a:r>
            <a:endParaRPr lang="en-US" altLang="en-GB" sz="2400" b="1">
              <a:latin typeface="Times New Roman" panose="02020603050405020304" charset="0"/>
              <a:cs typeface="Times New Roman" panose="02020603050405020304" charset="0"/>
            </a:endParaRPr>
          </a:p>
        </p:txBody>
      </p:sp>
      <p:sp>
        <p:nvSpPr>
          <p:cNvPr id="272" name="Google Shape;272;p37"/>
          <p:cNvSpPr txBox="1"/>
          <p:nvPr>
            <p:ph type="body" idx="1"/>
          </p:nvPr>
        </p:nvSpPr>
        <p:spPr>
          <a:xfrm>
            <a:off x="819150" y="932630"/>
            <a:ext cx="7505700" cy="28191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140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Myers, J. (2024). Says Who? Understanding Consumer Trust in AI-Generated Reviews.</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Chandra, N. (2025). Using the Power of Artificial Intelligence (AI) for Fraud Detection and Prevention in E-Commerce/Online Retail.</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Al-Adhaileh, M. H., &amp; Alsaade, F. W. (2022). Detecting and Analysing Fake Opinions Using Artificial Intelligence Algorithms. Intelligent Automation &amp; Soft Computing, 32(1).</a:t>
            </a:r>
            <a:endParaRPr sz="1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50000"/>
              </a:lnSpc>
              <a:spcBef>
                <a:spcPts val="0"/>
              </a:spcBef>
              <a:spcAft>
                <a:spcPts val="0"/>
              </a:spcAft>
              <a:buClr>
                <a:srgbClr val="000000"/>
              </a:buClr>
              <a:buSzPts val="1400"/>
              <a:buFont typeface="Times New Roman" panose="02020603050405020304"/>
              <a:buChar char="●"/>
            </a:pPr>
            <a:r>
              <a:rPr lang="en-GB" sz="1400">
                <a:solidFill>
                  <a:srgbClr val="000000"/>
                </a:solidFill>
                <a:latin typeface="Times New Roman" panose="02020603050405020304"/>
                <a:ea typeface="Times New Roman" panose="02020603050405020304"/>
                <a:cs typeface="Times New Roman" panose="02020603050405020304"/>
                <a:sym typeface="Times New Roman" panose="02020603050405020304"/>
              </a:rPr>
              <a:t>Paul, H., &amp; Nikolaev, A. (2021). Fake Review Detection on Online E-Commerce Platforms: A Systematic Literature Review. Data Mining and Knowledge Discovery, 35(5).</a:t>
            </a:r>
            <a:endParaRPr sz="16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15907</Words>
  <Application>WPS Presentation</Application>
  <PresentationFormat/>
  <Paragraphs>207</Paragraphs>
  <Slides>24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24</vt:i4>
      </vt:variant>
    </vt:vector>
  </HeadingPairs>
  <TitlesOfParts>
    <vt:vector size="40" baseType="lpstr">
      <vt:lpstr>Arial</vt:lpstr>
      <vt:lpstr>SimSun</vt:lpstr>
      <vt:lpstr>Wingdings</vt:lpstr>
      <vt:lpstr>Arial</vt:lpstr>
      <vt:lpstr>Nunito</vt:lpstr>
      <vt:lpstr>Calibri</vt:lpstr>
      <vt:lpstr>Times New Roman</vt:lpstr>
      <vt:lpstr>Microsoft YaHei</vt:lpstr>
      <vt:lpstr>Arial Unicode MS</vt:lpstr>
      <vt:lpstr>Inter Bold</vt:lpstr>
      <vt:lpstr>Segoe Print</vt:lpstr>
      <vt:lpstr>Inter</vt:lpstr>
      <vt:lpstr>Lato</vt:lpstr>
      <vt:lpstr>Manrope ExtraBold</vt:lpstr>
      <vt:lpstr>Times New Roman</vt:lpstr>
      <vt:lpstr>Shift</vt:lpstr>
      <vt:lpstr>PowerPoint 演示文稿</vt:lpstr>
      <vt:lpstr>Introduction</vt:lpstr>
      <vt:lpstr>Problem Statement</vt:lpstr>
      <vt:lpstr>Project Motivation</vt:lpstr>
      <vt:lpstr>Objectives of the Project</vt:lpstr>
      <vt:lpstr>Literature Review Summary</vt:lpstr>
      <vt:lpstr>Existing Solutions &amp; Gaps</vt:lpstr>
      <vt:lpstr>Proposed Solution Overview</vt:lpstr>
      <vt:lpstr>Dataset Used</vt:lpstr>
      <vt:lpstr>Machine Learning Model</vt:lpstr>
      <vt:lpstr>Model Training Workflow</vt:lpstr>
      <vt:lpstr>Evaluation Results</vt:lpstr>
      <vt:lpstr>System Architecture</vt:lpstr>
      <vt:lpstr>System Features</vt:lpstr>
      <vt:lpstr>User Interface (Homepage)</vt:lpstr>
      <vt:lpstr>Review Prediction System</vt:lpstr>
      <vt:lpstr>Example Prediction Results</vt:lpstr>
      <vt:lpstr>Contact &amp; Notification System</vt:lpstr>
      <vt:lpstr>Admin Dashboard</vt:lpstr>
      <vt:lpstr>Security Features</vt:lpstr>
      <vt:lpstr>Results</vt:lpstr>
      <vt:lpstr>Achievements</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Saivarshitha Sathupalli</cp:lastModifiedBy>
  <cp:revision>2</cp:revision>
  <dcterms:created xsi:type="dcterms:W3CDTF">2025-12-08T04:07:50Z</dcterms:created>
  <dcterms:modified xsi:type="dcterms:W3CDTF">2025-12-08T04:08:17Z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F0B74928B37B49219075F65617288172_12</vt:lpwstr>
  </property>
  <property fmtid="{D5CDD505-2E9C-101B-9397-08002B2CF9AE}" pid="3" name="KSOProductBuildVer">
    <vt:lpwstr>2057-12.2.0.23149</vt:lpwstr>
  </property>
</Properties>
</file>